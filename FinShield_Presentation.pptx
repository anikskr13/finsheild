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37160" cy="347472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645920"/>
            <a:ext cx="98755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0EA5E9"/>
                </a:solidFill>
              </a:defRPr>
            </a:pPr>
            <a:r>
              <a:t>LEARN DEPTH ACADEMY LLP  |  INTERNSHIP CAPSTONE</a:t>
            </a:r>
          </a:p>
          <a:p>
            <a:pPr>
              <a:spcAft>
                <a:spcPts val="600"/>
              </a:spcAft>
              <a:defRPr sz="4800" b="1">
                <a:solidFill>
                  <a:srgbClr val="F8FAFC"/>
                </a:solidFill>
              </a:defRPr>
            </a:pPr>
            <a:r>
              <a:t>FinShield</a:t>
            </a:r>
          </a:p>
          <a:p>
            <a:pPr>
              <a:spcAft>
                <a:spcPts val="1800"/>
              </a:spcAft>
              <a:defRPr sz="2200" b="0">
                <a:solidFill>
                  <a:srgbClr val="BAE6FD"/>
                </a:solidFill>
              </a:defRPr>
            </a:pPr>
            <a:r>
              <a:t>AI-Powered Payment Transaction Anomaly Detection System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FinTech Domain  •  Binary Classification  •  Extreme Imbalance Learning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5486400"/>
            <a:ext cx="2926080" cy="64008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559612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Target Metric: ROC-AUC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5486400"/>
            <a:ext cx="3108960" cy="64008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55961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EA5E9"/>
                </a:solidFill>
              </a:defRPr>
            </a:pPr>
            <a:r>
              <a:t>Final Model: Logistic Regression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5486400"/>
            <a:ext cx="3108960" cy="64008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79" y="5596128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</a:defRPr>
            </a:pPr>
            <a:r>
              <a:t>Deployment: Streamlit Web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A5E9"/>
                </a:solidFill>
              </a:defRPr>
            </a:pPr>
            <a:r>
              <a:t>BACKGROUND &amp; MOTIVATION</a:t>
            </a:r>
          </a:p>
          <a:p>
            <a:pPr>
              <a:spcAft>
                <a:spcPts val="200"/>
              </a:spcAft>
              <a:defRPr sz="2400" b="1">
                <a:solidFill>
                  <a:srgbClr val="0B192C"/>
                </a:solidFill>
              </a:defRPr>
            </a:pPr>
            <a:r>
              <a:t>The Fraud Detection Challenge in Digital Payments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Why standard machine learning assumptions fail in high-volume financial transaction streams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7452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E62"/>
                </a:solidFill>
              </a:defRPr>
            </a:pPr>
            <a:r>
              <a:t>01 | Severe Class Imbalance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Fraudulent events represent only 0.173% of total transactions (~578 genuine to 1 fraud).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Extreme rarity creates a 'needle in a haystack' classification problem.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Naive models predict majority class ('all genuine') to achieve &gt;99.8% accuracy while detecting zero fraud.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87452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EF4444"/>
                </a:solidFill>
              </a:defRPr>
            </a:pPr>
            <a:r>
              <a:t>02 | Asymmetric Error Costs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False Negatives (Missed Fraud): Unrecoverable financial loss, chargeback penalties, customer attrition.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False Positives (False Alarms): Legitimate transactions interrupted, brief customer friction.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Cost Ratio: Missing a fraud attempt is orders of magnitude more expensive than performing secondary verification.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874520"/>
            <a:ext cx="2871216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E62"/>
                </a:solidFill>
              </a:defRPr>
            </a:pPr>
            <a:r>
              <a:t>03 | Real-Time Latency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Modern payment rails require sub-second transaction scoring before payment authorization.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Heavy distance-based algorithms (like KNN) scale poorly with millions of historical records.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The anomaly detection engine must balance high sensitivity with lightweight inference computation.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A5E9"/>
                </a:solidFill>
              </a:defRPr>
            </a:pPr>
            <a:r>
              <a:t>PROJECT SCOPE</a:t>
            </a:r>
          </a:p>
          <a:p>
            <a:pPr>
              <a:spcAft>
                <a:spcPts val="200"/>
              </a:spcAft>
              <a:defRPr sz="2400" b="1">
                <a:solidFill>
                  <a:srgbClr val="0B192C"/>
                </a:solidFill>
              </a:defRPr>
            </a:pPr>
            <a:r>
              <a:t>FinShield Project Objectives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Formulating an end-to-end machine learning solution for payment anomaly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5564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E62"/>
                </a:solidFill>
              </a:defRPr>
            </a:pPr>
            <a:r>
              <a:t>1. Leak-Free Preprocessing Pipeline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Deduplicate 1,081 redundant transactions; enforce strict stratified train/test split (80/20); scale Time and Amount solely on training distributions.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8892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9864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E62"/>
                </a:solidFill>
              </a:defRPr>
            </a:pPr>
            <a:r>
              <a:t>2. Cost-Sensitive Imbalance Modeling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Penalize minority misclassifications using balanced class weights (class_weight='balanced') rather than introducing noisy synthetic interpolations.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4164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E62"/>
                </a:solidFill>
              </a:defRPr>
            </a:pPr>
            <a:r>
              <a:t>3. Rigorous Multi-Model Benchmarking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Train Logistic Regression, Decision Trees, and KNN; benchmark on Accuracy, Precision, Recall, F1-Score, and ROC-AUC.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512064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84648"/>
            <a:ext cx="4754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E62"/>
                </a:solidFill>
              </a:defRPr>
            </a:pPr>
            <a:r>
              <a:t>4. Interactive Demonstration UI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Persist serialized pipeline artifacts with joblib and deploy a responsive Streamlit dashboard supporting simulated genuine and fraud transactions.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 b="1">
                <a:solidFill>
                  <a:srgbClr val="0B192C"/>
                </a:solidFill>
              </a:defRPr>
            </a:pPr>
            <a:r>
              <a:t>Key Engineering &amp; Selection Principles</a:t>
            </a:r>
          </a:p>
          <a:p>
            <a:pPr>
              <a:spcAft>
                <a:spcPts val="100"/>
              </a:spcAft>
              <a:defRPr b="1" sz="1100">
                <a:solidFill>
                  <a:srgbClr val="1E3E62"/>
                </a:solidFill>
              </a:defRPr>
            </a:pPr>
            <a:r>
              <a:t>• ROC-AUC as North Star Metric: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Because threshold selection is business-dependent, models must be ranked on overall discriminatory power across all operating cutoffs.</a:t>
            </a:r>
          </a:p>
          <a:p>
            <a:pPr>
              <a:spcAft>
                <a:spcPts val="100"/>
              </a:spcAft>
              <a:defRPr b="1" sz="1100">
                <a:solidFill>
                  <a:srgbClr val="1E3E62"/>
                </a:solidFill>
              </a:defRPr>
            </a:pPr>
            <a:r>
              <a:t>• Prioritizing Recall Over Precision: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At the initial screening tier, capturing ~87% of fraud attempts protects capital, while flagged cases proceed to step-up verification.</a:t>
            </a:r>
          </a:p>
          <a:p>
            <a:pPr>
              <a:spcAft>
                <a:spcPts val="100"/>
              </a:spcAft>
              <a:defRPr b="1" sz="1100">
                <a:solidFill>
                  <a:srgbClr val="1E3E62"/>
                </a:solidFill>
              </a:defRPr>
            </a:pPr>
            <a:r>
              <a:t>• Production-Ready Pipeline Architecture: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Trained transformers and models are decoupled and saved to disk, ensuring identical preprocessing during web serving.</a:t>
            </a:r>
          </a:p>
          <a:p>
            <a:pPr>
              <a:spcAft>
                <a:spcPts val="100"/>
              </a:spcAft>
              <a:defRPr b="1" sz="1100">
                <a:solidFill>
                  <a:srgbClr val="1E3E62"/>
                </a:solidFill>
              </a:defRPr>
            </a:pPr>
            <a:r>
              <a:t>• Academic Prototype Reality: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Designed as an educational machine learning prototype demonstrating core data science competencies for Learn Depth Academy LLP.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A5E9"/>
                </a:solidFill>
              </a:defRPr>
            </a:pPr>
            <a:r>
              <a:t>DATA UNDERSTANDING</a:t>
            </a:r>
          </a:p>
          <a:p>
            <a:pPr>
              <a:spcAft>
                <a:spcPts val="200"/>
              </a:spcAft>
              <a:defRPr sz="2400" b="1">
                <a:solidFill>
                  <a:srgbClr val="0B192C"/>
                </a:solidFill>
              </a:defRPr>
            </a:pPr>
            <a:r>
              <a:t>Credit Card Transaction Dataset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Benchmark dataset collected by Université Libre de Bruxelles (ULB) / Kaggle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E62"/>
                </a:solidFill>
              </a:defRPr>
            </a:pPr>
            <a:r>
              <a:t>284,807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Total Transactions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47288" y="164592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84448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F4444"/>
                </a:solidFill>
              </a:defRPr>
            </a:pPr>
            <a:r>
              <a:t>492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Fraudulent Cases (0.173%)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63056" y="164592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0216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0B981"/>
                </a:solidFill>
              </a:defRPr>
            </a:pPr>
            <a:r>
              <a:t>284,315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Genuine Cases (99.827%)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78824" y="1645920"/>
            <a:ext cx="2468880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15984" y="173736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3E62"/>
                </a:solidFill>
              </a:defRPr>
            </a:pPr>
            <a:r>
              <a:t>30 + 1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Features &amp; 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063240"/>
            <a:ext cx="52120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4612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E62"/>
                </a:solidFill>
              </a:defRPr>
            </a:pPr>
            <a:r>
              <a:t>Feature Anatomy &amp; Confidentiality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V1 to V28 (PCA Features):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28 numerical features resulting from Principal Component Analysis transformation to protect user identity and cardholder confidentiality.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Time (Original Feature):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Elapsed seconds between each transaction and the first record in the dataset (covers 48 hours).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Amount (Original Feature):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Transaction amount in Euros. Exhibits extreme variance (mean €88.35, max €25,691.16).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Class (Target Variable):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Binary flag: 0 = Genuine transaction, 1 = Fraudulent/anomalous transaction.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3063240"/>
            <a:ext cx="52120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246120"/>
            <a:ext cx="47548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 b="1">
                <a:solidFill>
                  <a:srgbClr val="1E3E62"/>
                </a:solidFill>
              </a:defRPr>
            </a:pPr>
            <a:r>
              <a:t>Data Integrity &amp; Hygiene Assessment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Zero Missing Values: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Initial verification confirmed zero null/NaN values across all 31 features, ensuring no synthetic imputation was necessary.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Duplicate Row Identification: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Identified exactly 1,081 identical transaction rows. These were dropped to prevent data leakage between train and test splits.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Post-Deduplication Volume: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283,726 unique transactions retained (473 fraud cases, 283,253 genuine cases).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Extreme Ratio Confirmation: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Fraud incidence after deduplication is 0.167%, reinforcing the necessity for cost-sensitive penalization.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A5E9"/>
                </a:solidFill>
              </a:defRPr>
            </a:pPr>
            <a:r>
              <a:t>DATA EXPLORATION</a:t>
            </a:r>
          </a:p>
          <a:p>
            <a:pPr>
              <a:spcAft>
                <a:spcPts val="200"/>
              </a:spcAft>
              <a:defRPr sz="2400" b="1">
                <a:solidFill>
                  <a:srgbClr val="0B192C"/>
                </a:solidFill>
              </a:defRPr>
            </a:pPr>
            <a:r>
              <a:t>Key Exploratory Data Analysis (EDA) Findings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Empirical patterns extracted from notebooks/01_EDA.ipynb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9377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1E3E62"/>
                </a:solidFill>
              </a:defRPr>
            </a:pPr>
            <a:r>
              <a:t>Key Empirical Observations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Class Imbalance Reality: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Visualized via countplot &amp; pie chart: 99.83% genuine vs. 0.17% fraud. A default classifier predicting majority achieves near-perfect accuracy while completely failing its purpose.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Temporal Circadian Trend: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Engineering the Hour feature ((Time // 3600) % 24) revealed that while genuine transactions drop sharply between 01:00 and 05:00 AM, fraud rates remain elevated during nighttime hours.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Discriminative PCA Components: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Strong negative correlation with fraud observed in V14 (-0.302), V17 (-0.326), V12 (-0.260), and V10 (-0.216). Fraudulent events exhibit heavy negative outlier tails.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Transaction Amounts: </a:t>
            </a:r>
          </a:p>
          <a:p>
            <a:pPr>
              <a:spcAft>
                <a:spcPts val="800"/>
              </a:spcAft>
              <a:defRPr sz="1000">
                <a:solidFill>
                  <a:srgbClr val="64748B"/>
                </a:solidFill>
              </a:defRPr>
            </a:pPr>
            <a:r>
              <a:t>Median fraud amount is €9.25 vs €22.00 for genuine, confirming fraudsters deliberately keep amounts modest to evade automated alerts.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5486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01_class_distribution_count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737360"/>
            <a:ext cx="5120640" cy="358535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0" y="4069080"/>
            <a:ext cx="54864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0_top_features_correlated_with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4160520"/>
            <a:ext cx="5120640" cy="329996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A5E9"/>
                </a:solidFill>
              </a:defRPr>
            </a:pPr>
            <a:r>
              <a:t>PIPELINE ARCHITECTURE</a:t>
            </a:r>
          </a:p>
          <a:p>
            <a:pPr>
              <a:spcAft>
                <a:spcPts val="200"/>
              </a:spcAft>
              <a:defRPr sz="2400" b="1">
                <a:solidFill>
                  <a:srgbClr val="0B192C"/>
                </a:solidFill>
              </a:defRPr>
            </a:pPr>
            <a:r>
              <a:t>Data Preprocessing &amp; Imbalance Strategy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Constructing a leak-free transformation pipeline to prepare features for model estimation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E62"/>
                </a:solidFill>
              </a:defRPr>
            </a:pPr>
            <a:r>
              <a:t>01 | Deduplication &amp; Split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Deduplication: Removed 1,081 redundant rows to prevent identical transactions appearing in both splits.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Stratified Partitioning: Executed 80/20 train/test split with stratify=y and random_state=42.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Training Set: 226,980 samples (397 fraud cases).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Testing Set: 56,746 samples (95 fraud cases).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Integrity: Identical minority proportion strictly maintained in both partitions.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3E62"/>
                </a:solidFill>
              </a:defRPr>
            </a:pPr>
            <a:r>
              <a:t>02 | Feature Scaling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PCA Invariance: Features V1 through V28 were already standardized from original PCA projection.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StandardScaler Application: Applied strictly to Time and Amount.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Zero Data Leakage: The scaler is fitted exclusively on X_train, then applied via transform() onto X_test and inference streams.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Hour Feature Engineering: Time converted into cyclic hour of day ((Time // 3600) % 24) to capture diurnal behavior.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0B981"/>
                </a:solidFill>
              </a:defRPr>
            </a:pPr>
            <a:r>
              <a:t>03 | Cost-Sensitive Weights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class_weight='balanced': Configured directly inside loss functions of Logistic Regression and Decision Tree.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Mathematical Mechanism: Automatically computes weights inversely proportional to class frequencies: W_c = N / (2 * N_c).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Fraud Penalty: Scales minority misclassification penalty by ~578x.</a:t>
            </a:r>
          </a:p>
          <a:p>
            <a:pPr>
              <a:spcAft>
                <a:spcPts val="800"/>
              </a:spcAft>
              <a:defRPr sz="1100">
                <a:solidFill>
                  <a:srgbClr val="0F172A"/>
                </a:solidFill>
              </a:defRPr>
            </a:pPr>
            <a:r>
              <a:t>• Why not SMOTE: Preserves exact genuine boundary geometry without generating synthetic artifacts in PCA 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A5E9"/>
                </a:solidFill>
              </a:defRPr>
            </a:pPr>
            <a:r>
              <a:t>MODEL ARCHITECTURE</a:t>
            </a:r>
          </a:p>
          <a:p>
            <a:pPr>
              <a:spcAft>
                <a:spcPts val="200"/>
              </a:spcAft>
              <a:defRPr sz="2400" b="1">
                <a:solidFill>
                  <a:srgbClr val="0B192C"/>
                </a:solidFill>
              </a:defRPr>
            </a:pPr>
            <a:r>
              <a:t>Candidate Classification Models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Three contrasting algorithms trained under identical splits and evaluation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E62"/>
                </a:solidFill>
              </a:defRPr>
            </a:pPr>
            <a:r>
              <a:t>Logistic Regression</a:t>
            </a:r>
          </a:p>
          <a:p>
            <a:pPr>
              <a:spcAft>
                <a:spcPts val="1200"/>
              </a:spcAft>
              <a:defRPr sz="1100">
                <a:solidFill>
                  <a:srgbClr val="0EA5E9"/>
                </a:solidFill>
              </a:defRPr>
            </a:pPr>
            <a:r>
              <a:t>Linear Probabilistic Baseline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class_weight: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'balanced' (proportional penalty)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max_iter: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1000 (ensures full convergence)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random_state: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42 (deterministic reproducibility)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Core Advantage: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Generates smooth, well-calibrated continuous probabilities; convex loss guarantees global optimum; ultra-low inference latency for payment gateways.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64592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54296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E62"/>
                </a:solidFill>
              </a:defRPr>
            </a:pPr>
            <a:r>
              <a:t>Decision Tree</a:t>
            </a:r>
          </a:p>
          <a:p>
            <a:pPr>
              <a:spcAft>
                <a:spcPts val="1200"/>
              </a:spcAft>
              <a:defRPr sz="1100">
                <a:solidFill>
                  <a:srgbClr val="0EA5E9"/>
                </a:solidFill>
              </a:defRPr>
            </a:pPr>
            <a:r>
              <a:t>Non-Linear Rule Partitioner</a:t>
            </a:r>
          </a:p>
          <a:p>
            <a:pPr>
              <a:spcAft>
                <a:spcPts val="100"/>
              </a:spcAft>
              <a:defRPr b="1">
                <a:solidFill>
                  <a:srgbClr val="0B192C"/>
                </a:solidFill>
              </a:defRPr>
            </a:pPr>
            <a:r>
              <a:t>class_weight: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'balanced'</a:t>
            </a:r>
          </a:p>
          <a:p>
            <a:pPr>
              <a:spcAft>
                <a:spcPts val="100"/>
              </a:spcAft>
              <a:defRPr b="1">
                <a:solidFill>
                  <a:srgbClr val="0B192C"/>
                </a:solidFill>
              </a:defRPr>
            </a:pPr>
            <a:r>
              <a:t>max_depth: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8 (explicit tree pruning)</a:t>
            </a:r>
          </a:p>
          <a:p>
            <a:pPr>
              <a:spcAft>
                <a:spcPts val="100"/>
              </a:spcAft>
              <a:defRPr b="1">
                <a:solidFill>
                  <a:srgbClr val="0B192C"/>
                </a:solidFill>
              </a:defRPr>
            </a:pPr>
            <a:r>
              <a:t>random_state: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42</a:t>
            </a:r>
          </a:p>
          <a:p>
            <a:pPr>
              <a:spcAft>
                <a:spcPts val="100"/>
              </a:spcAft>
              <a:defRPr b="1">
                <a:solidFill>
                  <a:srgbClr val="0B192C"/>
                </a:solidFill>
              </a:defRPr>
            </a:pPr>
            <a:r>
              <a:t>Core Advantage: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Captures non-linear thresholds and feature combinations; transparent split rules; pruned depth explicitly limits tree capacity to prevent memorization of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645920"/>
            <a:ext cx="3328416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48472" y="1828800"/>
            <a:ext cx="287121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E62"/>
                </a:solidFill>
              </a:defRPr>
            </a:pPr>
            <a:r>
              <a:t>K-Nearest Neighbors</a:t>
            </a:r>
          </a:p>
          <a:p>
            <a:pPr>
              <a:spcAft>
                <a:spcPts val="1200"/>
              </a:spcAft>
              <a:defRPr sz="1100">
                <a:solidFill>
                  <a:srgbClr val="0EA5E9"/>
                </a:solidFill>
              </a:defRPr>
            </a:pPr>
            <a:r>
              <a:t>Instance-Based Local Density</a:t>
            </a:r>
          </a:p>
          <a:p>
            <a:pPr>
              <a:spcAft>
                <a:spcPts val="100"/>
              </a:spcAft>
              <a:defRPr b="1">
                <a:solidFill>
                  <a:srgbClr val="0B192C"/>
                </a:solidFill>
              </a:defRPr>
            </a:pPr>
            <a:r>
              <a:t>n_neighbors: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5 (neighborhood vote count)</a:t>
            </a:r>
          </a:p>
          <a:p>
            <a:pPr>
              <a:spcAft>
                <a:spcPts val="100"/>
              </a:spcAft>
              <a:defRPr b="1">
                <a:solidFill>
                  <a:srgbClr val="0B192C"/>
                </a:solidFill>
              </a:defRPr>
            </a:pPr>
            <a:r>
              <a:t>metric: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Euclidean distance</a:t>
            </a:r>
          </a:p>
          <a:p>
            <a:pPr>
              <a:spcAft>
                <a:spcPts val="100"/>
              </a:spcAft>
              <a:defRPr b="1">
                <a:solidFill>
                  <a:srgbClr val="0B192C"/>
                </a:solidFill>
              </a:defRPr>
            </a:pPr>
            <a:r>
              <a:t>weights: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'uniform'</a:t>
            </a:r>
          </a:p>
          <a:p>
            <a:pPr>
              <a:spcAft>
                <a:spcPts val="100"/>
              </a:spcAft>
              <a:defRPr b="1">
                <a:solidFill>
                  <a:srgbClr val="0B192C"/>
                </a:solidFill>
              </a:defRPr>
            </a:pPr>
            <a:r>
              <a:t>Core Characteristic: 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Non-parametric instance clustering; relies on local density; does not incorporate class weighting natively; high test-time computational complexity.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A5E9"/>
                </a:solidFill>
              </a:defRPr>
            </a:pPr>
            <a:r>
              <a:t>BENCHMARKING &amp; RESULTS</a:t>
            </a:r>
          </a:p>
          <a:p>
            <a:pPr>
              <a:spcAft>
                <a:spcPts val="200"/>
              </a:spcAft>
              <a:defRPr sz="2400" b="1">
                <a:solidFill>
                  <a:srgbClr val="0B192C"/>
                </a:solidFill>
              </a:defRPr>
            </a:pPr>
            <a:r>
              <a:t>Model Comparison &amp; Selection Criterion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Comparative performance on held-out test set (56,746 transactions: 56,651 genuine, 95 fraud)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5912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554480"/>
                <a:gridCol w="1554480"/>
                <a:gridCol w="1554480"/>
                <a:gridCol w="1554480"/>
                <a:gridCol w="1581912"/>
              </a:tblGrid>
              <a:tr h="43434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Model Architecture</a:t>
                      </a:r>
                    </a:p>
                  </a:txBody>
                  <a:tcPr anchor="ctr"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anchor="ctr"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 anchor="ctr"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 anchor="ctr"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 anchor="ctr">
                    <a:solidFill>
                      <a:srgbClr val="1E3E6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 anchor="ctr">
                    <a:solidFill>
                      <a:srgbClr val="1E3E62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0B192C"/>
                          </a:solidFill>
                        </a:defRPr>
                      </a:pPr>
                      <a:r>
                        <a:t>Logistic Regression (Selected)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B192C"/>
                          </a:solidFill>
                        </a:defRPr>
                      </a:pPr>
                      <a:r>
                        <a:t>0.9748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B192C"/>
                          </a:solidFill>
                        </a:defRPr>
                      </a:pPr>
                      <a:r>
                        <a:t>0.0553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B192C"/>
                          </a:solidFill>
                        </a:defRPr>
                      </a:pPr>
                      <a:r>
                        <a:t>0.8737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B192C"/>
                          </a:solidFill>
                        </a:defRPr>
                      </a:pPr>
                      <a:r>
                        <a:t>0.1040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0B192C"/>
                          </a:solidFill>
                        </a:defRPr>
                      </a:pPr>
                      <a:r>
                        <a:t>0.9684</a:t>
                      </a:r>
                    </a:p>
                  </a:txBody>
                  <a:tcPr anchor="ctr">
                    <a:solidFill>
                      <a:srgbClr val="E0F2F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Decision Tree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0.9913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0.1374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0.8000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0.2346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0.9074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KNN (K-Nearest Neighbors)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0.9994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0.9420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0.6842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0.7927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0.8841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3657600"/>
            <a:ext cx="5212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37947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E3E62"/>
                </a:solidFill>
              </a:defRPr>
            </a:pPr>
            <a:r>
              <a:t>Why Logistic Regression Was Selected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Highest ROC-AUC (0.9684): Explicitly defined as the primary selection criterion.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Superior Sensitivity (Recall = 87.37%): Successfully detected 83 out of 95 fraud attempts, yielding the lowest miss rate (only 12 false negatives).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Calibrated Threshold Adaptability: High AUC confirms the model separates distributions well, allowing fraud teams to fine-tune cutoff thresholds dynamically.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657600"/>
            <a:ext cx="5212080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37947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EF4444"/>
                </a:solidFill>
              </a:defRPr>
            </a:pPr>
            <a:r>
              <a:t>Why KNN &amp; High F1 Were NOT Selected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Lowest ROC-AUC (0.8841): Ranks poorest in overall discriminatory separation.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Unacceptable Miss Rate (Recall = 68.42%): Missed 31.6% of all fraudulent transactions (30 missed fraud cases vs. only 12 for Logistic Regression).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F1 Metric Flaw: KNN's high F1 reflects high precision at a fixed 0.5 cutoff at the cost of letting 30 fraudulent transactions bypass the barrier.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</a:defRPr>
            </a:pPr>
            <a:r>
              <a:t>• Production Bottleneck: Evaluating distance across 226k+ vectors is infeasible for low-latency payment processing.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A5E9"/>
                </a:solidFill>
              </a:defRPr>
            </a:pPr>
            <a:r>
              <a:t>MODEL ASSESSMENT</a:t>
            </a:r>
          </a:p>
          <a:p>
            <a:pPr>
              <a:spcAft>
                <a:spcPts val="200"/>
              </a:spcAft>
              <a:defRPr sz="2400" b="1">
                <a:solidFill>
                  <a:srgbClr val="0B192C"/>
                </a:solidFill>
              </a:defRPr>
            </a:pPr>
            <a:r>
              <a:t>Final Model Evaluation: Logistic Regression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Detailed metrics and Receiver Operating Characteristic (ROC) curve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9377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E62"/>
                </a:solidFill>
              </a:defRPr>
            </a:pPr>
            <a:r>
              <a:t>Evaluation Summary (Test Set)</a:t>
            </a:r>
          </a:p>
          <a:p>
            <a:pPr>
              <a:spcAft>
                <a:spcPts val="100"/>
              </a:spcAft>
              <a:defRPr b="1" sz="1200">
                <a:solidFill>
                  <a:srgbClr val="0B192C"/>
                </a:solidFill>
              </a:defRPr>
            </a:pPr>
            <a:r>
              <a:t>Accuracy: 97.48%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Overall classification accuracy across 56,746 test transactions.</a:t>
            </a:r>
          </a:p>
          <a:p>
            <a:pPr>
              <a:spcAft>
                <a:spcPts val="100"/>
              </a:spcAft>
              <a:defRPr b="1" sz="1200">
                <a:solidFill>
                  <a:srgbClr val="0B192C"/>
                </a:solidFill>
              </a:defRPr>
            </a:pPr>
            <a:r>
              <a:t>ROC-AUC: 0.9684 (96.84%)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Primary metric demonstrating strong discriminatory capability across all potential decision thresholds.</a:t>
            </a:r>
          </a:p>
          <a:p>
            <a:pPr>
              <a:spcAft>
                <a:spcPts val="100"/>
              </a:spcAft>
              <a:defRPr b="1" sz="1200">
                <a:solidFill>
                  <a:srgbClr val="0B192C"/>
                </a:solidFill>
              </a:defRPr>
            </a:pPr>
            <a:r>
              <a:t>Recall: 87.37%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Successfully captured 83 out of 95 fraud cases, prioritizing capital protection.</a:t>
            </a:r>
          </a:p>
          <a:p>
            <a:pPr>
              <a:spcAft>
                <a:spcPts val="100"/>
              </a:spcAft>
              <a:defRPr b="1" sz="1200">
                <a:solidFill>
                  <a:srgbClr val="0B192C"/>
                </a:solidFill>
              </a:defRPr>
            </a:pPr>
            <a:r>
              <a:t>Precision: 5.53%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Reflects low baseline fraud prevalence (0.17%); flagged transactions proceed to step-up verification (OTP/SMS).</a:t>
            </a:r>
          </a:p>
          <a:p>
            <a:pPr>
              <a:spcAft>
                <a:spcPts val="100"/>
              </a:spcAft>
              <a:defRPr b="1" sz="1200">
                <a:solidFill>
                  <a:srgbClr val="0B192C"/>
                </a:solidFill>
              </a:defRPr>
            </a:pPr>
            <a:r>
              <a:t>F1-Score: 10.40%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Harmonic mean of precision and recall under cost-sensitive balanced weighting.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7_roc_curve_logistic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120640" cy="406552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A5E9"/>
                </a:solidFill>
              </a:defRPr>
            </a:pPr>
            <a:r>
              <a:t>ERROR ANALYSIS</a:t>
            </a:r>
          </a:p>
          <a:p>
            <a:pPr>
              <a:spcAft>
                <a:spcPts val="200"/>
              </a:spcAft>
              <a:defRPr sz="2400" b="1">
                <a:solidFill>
                  <a:srgbClr val="0B192C"/>
                </a:solidFill>
              </a:defRPr>
            </a:pPr>
            <a:r>
              <a:t>Confusion Matrix &amp; Operational Interpretation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Detailed audit of model decisions across 56,746 test transactions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49377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4805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E62"/>
                </a:solidFill>
              </a:defRPr>
            </a:pPr>
            <a:r>
              <a:t>Confusion Matrix Breakdown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True Negatives (TN = 55,233):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Genuine transactions correctly cleared with zero customer friction (97.5% specificity).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False Positives (FP = 1,418):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Legitimate transactions routed to step-up authorization (e.g., SMS OTP challenge).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False Negatives (FN = 12):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Fraudulent transactions missed by the model. Represents only 12.6% of all fraud attempts.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True Positives (TP = 83):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Fraudulent transactions successfully intercepted and blocked (87.4% sensitivity).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Business Impact Assessment: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Missing 12 fraudulent charges protects ~87% of potential fraud losses, while routing ~2.5% of genuine volume to secondary verification is commercially acceptable.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645920"/>
            <a:ext cx="54864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8_confusion_matrix_logistic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828800"/>
            <a:ext cx="5120640" cy="41129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A5E9"/>
                </a:solidFill>
              </a:defRPr>
            </a:pPr>
            <a:r>
              <a:t>INTERACTIVE DEPLOYMENT</a:t>
            </a:r>
          </a:p>
          <a:p>
            <a:pPr>
              <a:spcAft>
                <a:spcPts val="200"/>
              </a:spcAft>
              <a:defRPr sz="2400" b="1">
                <a:solidFill>
                  <a:srgbClr val="0B192C"/>
                </a:solidFill>
              </a:defRPr>
            </a:pPr>
            <a:r>
              <a:t>FinShield Streamlit Web Application</a:t>
            </a:r>
          </a:p>
          <a:p>
            <a:pPr>
              <a:defRPr sz="1200">
                <a:solidFill>
                  <a:srgbClr val="64748B"/>
                </a:solidFill>
              </a:defRPr>
            </a:pPr>
            <a:r>
              <a:t>Interactive inference interface executing real-time payment anomaly scoring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46634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E62"/>
                </a:solidFill>
              </a:defRPr>
            </a:pPr>
            <a:r>
              <a:t>Application Architecture &amp; Features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Model &amp; Scaler Deserialization: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Loads model.pkl and scaler.pkl via @st.cache_resource for instant zero-overhead scoring.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Dynamic Feature Engineering: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Derives the Hour feature ((Time // 3600) % 24) and guarantees exact model column ordering (model.feature_names_in_).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Continuous Risk Stratification: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Outputs probability percentage and classifies transactions into 3 actionable risk tiers: Low (&lt;50%), Medium (50–79%), High (&gt;=80%).</a:t>
            </a:r>
          </a:p>
          <a:p>
            <a:pPr>
              <a:spcAft>
                <a:spcPts val="100"/>
              </a:spcAft>
              <a:defRPr b="1" sz="1100">
                <a:solidFill>
                  <a:srgbClr val="0B192C"/>
                </a:solidFill>
              </a:defRPr>
            </a:pPr>
            <a:r>
              <a:t>Fast Execution Command:</a:t>
            </a:r>
          </a:p>
          <a:p>
            <a:pPr>
              <a:spcAft>
                <a:spcPts val="600"/>
              </a:spcAft>
              <a:defRPr sz="1000">
                <a:solidFill>
                  <a:srgbClr val="64748B"/>
                </a:solidFill>
              </a:defRPr>
            </a:pPr>
            <a:r>
              <a:t>cd app; uv run streamlit run streamlit_app.py (hosted locally at http://localhost:8501).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1828800"/>
            <a:ext cx="47548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3E62"/>
                </a:solidFill>
              </a:defRPr>
            </a:pPr>
            <a:r>
              <a:t>Pre-Configured Demo Scenarios</a:t>
            </a:r>
          </a:p>
          <a:p>
            <a:pPr>
              <a:spcAft>
                <a:spcPts val="200"/>
              </a:spcAft>
              <a:defRPr b="1" sz="1200">
                <a:solidFill>
                  <a:srgbClr val="10B981"/>
                </a:solidFill>
              </a:defRPr>
            </a:pPr>
            <a:r>
              <a:t>🟢 Genuine Transaction Demo</a:t>
            </a:r>
          </a:p>
          <a:p>
            <a:pPr>
              <a:spcAft>
                <a:spcPts val="1200"/>
              </a:spcAft>
              <a:defRPr sz="1000">
                <a:solidFill>
                  <a:srgbClr val="0F172A"/>
                </a:solidFill>
              </a:defRPr>
            </a:pPr>
            <a:r>
              <a:t>• Input: Time = 50,000s | Amount = €100.00 | V1–V28 = 0.0</a:t>
            </a:r>
            <a:br/>
            <a:r>
              <a:t>• Prediction: Genuine Transaction (Normal)</a:t>
            </a:r>
            <a:br/>
            <a:r>
              <a:t>• Risk Tier: LOW RISK (Approval Cleared)</a:t>
            </a:r>
          </a:p>
          <a:p>
            <a:pPr>
              <a:spcAft>
                <a:spcPts val="200"/>
              </a:spcAft>
              <a:defRPr b="1" sz="1200">
                <a:solidFill>
                  <a:srgbClr val="EF4444"/>
                </a:solidFill>
              </a:defRPr>
            </a:pPr>
            <a:r>
              <a:t>🔴 Fraudulent Transaction Demo</a:t>
            </a:r>
          </a:p>
          <a:p>
            <a:pPr>
              <a:spcAft>
                <a:spcPts val="800"/>
              </a:spcAft>
              <a:defRPr sz="1000">
                <a:solidFill>
                  <a:srgbClr val="0F172A"/>
                </a:solidFill>
              </a:defRPr>
            </a:pPr>
            <a:r>
              <a:t>• Input: Time = 60,000s | Amount = €150.00</a:t>
            </a:r>
            <a:br/>
            <a:r>
              <a:t>• Signature Outliers: V10 = -6.2, V12 = -5.8, V14 = -7.1, V17 = -6.4</a:t>
            </a:r>
            <a:br/>
            <a:r>
              <a:t>• Prediction: 🚨 Fraudulent Transaction Detected</a:t>
            </a:r>
            <a:br/>
            <a:r>
              <a:t>• Risk Tier: HIGH RISK (&gt;95% Fraud Probability)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EA5E9"/>
                </a:solidFill>
              </a:defRPr>
            </a:pPr>
            <a:r>
              <a:t>SUMMARY &amp; ROADMAP</a:t>
            </a:r>
          </a:p>
          <a:p>
            <a:pPr>
              <a:defRPr sz="2400" b="1">
                <a:solidFill>
                  <a:srgbClr val="F8FAFC"/>
                </a:solidFill>
              </a:defRPr>
            </a:pPr>
            <a:r>
              <a:t>Conclusion &amp; Future Research Directions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EA5E9"/>
                </a:solidFill>
              </a:defRPr>
            </a:pPr>
            <a:r>
              <a:t>Project Conclusions</a:t>
            </a:r>
          </a:p>
          <a:p>
            <a:pPr>
              <a:spcAft>
                <a:spcPts val="100"/>
              </a:spcAft>
              <a:defRPr b="1" sz="1100">
                <a:solidFill>
                  <a:srgbClr val="F8FAFC"/>
                </a:solidFill>
              </a:defRPr>
            </a:pPr>
            <a:r>
              <a:t>End-to-End Pipeline Completed: 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Successfully engineered a complete data science pipeline covering EDA, deduplication, leak-free scaling, and model persistence.</a:t>
            </a:r>
          </a:p>
          <a:p>
            <a:pPr>
              <a:spcAft>
                <a:spcPts val="100"/>
              </a:spcAft>
              <a:defRPr b="1" sz="1100">
                <a:solidFill>
                  <a:srgbClr val="F8FAFC"/>
                </a:solidFill>
              </a:defRPr>
            </a:pPr>
            <a:r>
              <a:t>ROC-AUC Model Selection Validated: 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Selected Logistic Regression based strictly on maximum ROC-AUC (0.9684), capturing 87.37% of fraud events.</a:t>
            </a:r>
          </a:p>
          <a:p>
            <a:pPr>
              <a:spcAft>
                <a:spcPts val="100"/>
              </a:spcAft>
              <a:defRPr b="1" sz="1100">
                <a:solidFill>
                  <a:srgbClr val="F8FAFC"/>
                </a:solidFill>
              </a:defRPr>
            </a:pPr>
            <a:r>
              <a:t>Rejection of Naive Metrics: 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Demonstrated that raw accuracy (&gt;99.8%) and default F1 scores conceal severe fraud leakage in imbalanced regimes.</a:t>
            </a:r>
          </a:p>
          <a:p>
            <a:pPr>
              <a:spcAft>
                <a:spcPts val="100"/>
              </a:spcAft>
              <a:defRPr b="1" sz="1100">
                <a:solidFill>
                  <a:srgbClr val="F8FAFC"/>
                </a:solidFill>
              </a:defRPr>
            </a:pPr>
            <a:r>
              <a:t>Interactive Prototype Operational: 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Streamlit application serves predictions and risk assessments with instant responsiveness.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1E3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EA5E9"/>
                </a:solidFill>
              </a:defRPr>
            </a:pPr>
            <a:r>
              <a:t>Future Scope &amp; Enhancements</a:t>
            </a:r>
          </a:p>
          <a:p>
            <a:pPr>
              <a:spcAft>
                <a:spcPts val="100"/>
              </a:spcAft>
              <a:defRPr b="1" sz="1100">
                <a:solidFill>
                  <a:srgbClr val="F8FAFC"/>
                </a:solidFill>
              </a:defRPr>
            </a:pPr>
            <a:r>
              <a:t>Gradient Boosted Ensembles: 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Benchmark XGBoost, LightGBM, and CatBoost with custom focal loss functions.</a:t>
            </a:r>
          </a:p>
          <a:p>
            <a:pPr>
              <a:spcAft>
                <a:spcPts val="100"/>
              </a:spcAft>
              <a:defRPr b="1" sz="1100">
                <a:solidFill>
                  <a:srgbClr val="F8FAFC"/>
                </a:solidFill>
              </a:defRPr>
            </a:pPr>
            <a:r>
              <a:t>Cost-Matrix Threshold Optimization: 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Calibrate dynamic decision thresholds based on explicit dollar-value cost of false positives vs. false negatives.</a:t>
            </a:r>
          </a:p>
          <a:p>
            <a:pPr>
              <a:spcAft>
                <a:spcPts val="100"/>
              </a:spcAft>
              <a:defRPr b="1" sz="1100">
                <a:solidFill>
                  <a:srgbClr val="F8FAFC"/>
                </a:solidFill>
              </a:defRPr>
            </a:pPr>
            <a:r>
              <a:t>Explainable AI (XAI): 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Integrate SHAP / LIME attribution scores into the Streamlit UI to display top contributing features for flagged transactions.</a:t>
            </a:r>
          </a:p>
          <a:p>
            <a:pPr>
              <a:spcAft>
                <a:spcPts val="100"/>
              </a:spcAft>
              <a:defRPr b="1" sz="1100">
                <a:solidFill>
                  <a:srgbClr val="F8FAFC"/>
                </a:solidFill>
              </a:defRPr>
            </a:pPr>
            <a:r>
              <a:t>Streaming Ingestion Pipeline: 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Connect scoring models to Apache Kafka / Apache Flink for real-time sub-millisecond event processing.</a:t>
            </a:r>
          </a:p>
          <a:p>
            <a:pPr>
              <a:spcAft>
                <a:spcPts val="100"/>
              </a:spcAft>
              <a:defRPr b="1" sz="1100">
                <a:solidFill>
                  <a:srgbClr val="F8FAFC"/>
                </a:solidFill>
              </a:defRPr>
            </a:pPr>
            <a:r>
              <a:t>Concept Drift Monitoring: </a:t>
            </a:r>
          </a:p>
          <a:p>
            <a:pPr>
              <a:spcAft>
                <a:spcPts val="800"/>
              </a:spcAft>
              <a:defRPr sz="1000">
                <a:solidFill>
                  <a:srgbClr val="CBD5E1"/>
                </a:solidFill>
              </a:defRPr>
            </a:pPr>
            <a:r>
              <a:t>Implement automated drift detection (KS-tests, PSI) to trigger periodic model retraining.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